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325C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4325C"/>
                </a:solidFill>
                <a:latin typeface="Calibri"/>
              </a:rPr>
              <a:t>Share of est. monthly revenue by brand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share %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5251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Samsung</c:v>
                </c:pt>
                <c:pt idx="1">
                  <c:v>Apple</c:v>
                </c:pt>
                <c:pt idx="2">
                  <c:v>Motorola</c:v>
                </c:pt>
                <c:pt idx="3">
                  <c:v>Google</c:v>
                </c:pt>
                <c:pt idx="4">
                  <c:v>OnePlus</c:v>
                </c:pt>
                <c:pt idx="5">
                  <c:v>Panasonic</c:v>
                </c:pt>
                <c:pt idx="6">
                  <c:v>AT&amp;T</c:v>
                </c:pt>
                <c:pt idx="7">
                  <c:v>VTech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47</c:v>
                </c:pt>
                <c:pt idx="1">
                  <c:v>15.9</c:v>
                </c:pt>
                <c:pt idx="2">
                  <c:v>7.8</c:v>
                </c:pt>
                <c:pt idx="3">
                  <c:v>7.7</c:v>
                </c:pt>
                <c:pt idx="4">
                  <c:v>5.6</c:v>
                </c:pt>
                <c:pt idx="5">
                  <c:v>4.4000000000000004</c:v>
                </c:pt>
                <c:pt idx="6">
                  <c:v>2.7</c:v>
                </c:pt>
                <c:pt idx="7">
                  <c:v>1.9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32-414E-9247-4CD1589734D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251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527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question: in the Amazon search for "phone", which products, brands and price points capture demand — and what should a seller or category manager do about it? We used Python for cleaning, SQL Server for storage, validation and modelling, and Power BI for the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Python handles the messy text parsing; SQL Server enforces types, constraints and gives Power BI a clean star schema through views; Power BI turns it into an interactive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where the data came from and its limits: it is a single snapshot of one search keyword, so it describes what is visible and selling in that moment, not the full phone market.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every column; highlight that several important ones (sales_volume, delivery, availability, coupon) are free text and need parsing before they can be analysed.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analytical risk was not missing values but missing structure: without a category column, averages mix phone cases with flagship phones. The sales column is also only a lower bound.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answers the brief's warning: explain the solution. For each issue state the rule and the reason. Mention the sanity checks: list price is never below price, minimum offer is never above price — both verified with asserts in Python and CHECK constraints in 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category classifier was checked manually against every one of the 311 titles: 206 smartphones, 76 landline/cordless, 11 basic/flip, 16 accessories, 2 toy phones.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Staging everything as text then converting with TRY_CAST means one bad value cannot break the load. Constraints repeat the Python sanity rules in the database. The control totals match the notebook and the Power BI cards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live in Power BI if possible: clear filters and confirm 311 listings and $20.7M; then click Smartphone and Renewed to show cross-filtering.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page to move from "what" to "why": discounts, reviews and unlocked status are linked with higher volume; the watch-list turns the analysis into an operational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is estimated: Amazon badge (lower bound) × current price. Absolute values are conservative, but shares and rankings are reliable for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with wording: this is one snapshot, so these are associations. For example, popular products may attract more reviews because they sell more — causality can run both 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recommendation ties to a number on the dashboard. The owner column shows who acts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limitations is part of a professional analysis — it tells the audience how much weight to put on each number.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take-aways and invite questions. Have the Power BI file open for live drill-downs.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188720"/>
            <a:ext cx="822960" cy="8229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1369771"/>
            <a:ext cx="460858" cy="46085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22402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Wins the "Phone" Search on Amazon?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246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 of 311 Amazon US phone listings — brands, prices, promotions and stock risk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846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Diploma · Final Project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257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Python (pandas)  ·  SQL Server  ·  Power BI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does the job it is best at — and every stage is reproducible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228600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199" y="2416759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phone_search_raw.csv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rows · 20 columns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560320" y="3291840"/>
            <a:ext cx="219456" cy="292608"/>
          </a:xfrm>
          <a:prstGeom prst="chevron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01168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20440" y="228600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41675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71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2971800" y="35204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Profile, clean, engineer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→ 45 columns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846320" y="3291840"/>
            <a:ext cx="219456" cy="292608"/>
          </a:xfrm>
          <a:prstGeom prst="chevron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20640" y="201168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806440" y="228600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7199" y="241675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57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257800" y="35204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schema, validation,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views, 10 business queries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7132320" y="3291840"/>
            <a:ext cx="219456" cy="292608"/>
          </a:xfrm>
          <a:prstGeom prst="chevron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406640" y="201168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092440" y="2286000"/>
            <a:ext cx="594360" cy="5943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3199" y="241675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43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543800" y="35204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2-page dashboard,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DAX measures</a:t>
            </a:r>
            <a:endParaRPr lang="en-US" sz="1300" dirty="0"/>
          </a:p>
        </p:txBody>
      </p:sp>
      <p:sp>
        <p:nvSpPr>
          <p:cNvPr id="27" name="Shape 21"/>
          <p:cNvSpPr/>
          <p:nvPr/>
        </p:nvSpPr>
        <p:spPr>
          <a:xfrm>
            <a:off x="9418320" y="3291840"/>
            <a:ext cx="219456" cy="292608"/>
          </a:xfrm>
          <a:prstGeom prst="chevron">
            <a:avLst/>
          </a:prstGeom>
          <a:solidFill>
            <a:srgbClr val="A9C6EC"/>
          </a:solidFill>
          <a:ln w="12700">
            <a:solidFill>
              <a:srgbClr val="A9C6EC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9692640" y="2011680"/>
            <a:ext cx="1965960" cy="2834640"/>
          </a:xfrm>
          <a:prstGeom prst="roundRect">
            <a:avLst>
              <a:gd name="adj" fmla="val 372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10378440" y="2286000"/>
            <a:ext cx="594360" cy="59436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09199" y="241675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829800" y="306324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829800" y="3520440"/>
            <a:ext cx="1691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5349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in the project folder:  01_Data  ·  02_Python (notebook)  ·  03_SQL (5 scripts)  ·  04_PowerBI (dashboard + DAX + theme)  ·  05_Presentation  ·  06_Documentation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dataset: Amazon US search results for "phone"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= one product listing on the search results page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286000" y="17373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 returned when a shopper searches "phone" on Amazon.com — smartphones, landlines, flip phones, accessories.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2286000" y="27432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through a real-time Amazon product-search API (RapidAPI "Real-Time Amazon Data" schema), exported to CSV.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7490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2286000" y="374904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of 19 September 2024 (derived from delivery text "Tomorrow, Sep 20").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754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7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4754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what shoppers see and buy: price, reviews, badges, discounts and a monthly sales badge.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0" y="173736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rows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784080" y="173736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84080" y="20574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400" dirty="0"/>
          </a:p>
        </p:txBody>
      </p:sp>
      <p:sp>
        <p:nvSpPr>
          <p:cNvPr id="17" name="Text 15"/>
          <p:cNvSpPr txBox="1"/>
          <p:nvPr/>
        </p:nvSpPr>
        <p:spPr>
          <a:xfrm>
            <a:off x="987552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columns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37490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14325C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</a:t>
            </a:r>
            <a:endParaRPr lang="en-US" sz="440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unique, priced listings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784080" y="3749040"/>
            <a:ext cx="1828800" cy="1783080"/>
          </a:xfrm>
          <a:prstGeom prst="roundRect">
            <a:avLst>
              <a:gd name="adj" fmla="val 4103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784080" y="406908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44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column means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raw columns in six groups — full dictionary in 06_Documentation/Data_Dictionary_and_Issues_Log.xlsx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792224"/>
            <a:ext cx="256032" cy="25603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asin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product ID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product_title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name (brand, model, specs)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has_variations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colour/size variants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6916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179222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7492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2240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product_price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product_original_price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Crossed-out list price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product_minimum_offer_price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seller price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USD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16916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0184" y="1792224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823960" y="17373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Reputation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275320" y="22402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product_star_rating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stars 1–5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product_num_ratings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reviews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product_num_offers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sellers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4023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306824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32588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77240" y="47548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is_best_seller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Best Seller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is_amazon_choice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Amazon's Choice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is_prime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eligible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climate_pledge_friendly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 badge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4023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4206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1144" y="4306824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07492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26280" y="47548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promise text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product_availability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"Only N left in stock"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023360"/>
            <a:ext cx="3520440" cy="2377440"/>
          </a:xfrm>
          <a:prstGeom prst="roundRect">
            <a:avLst>
              <a:gd name="adj" fmla="val 3077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0" y="4206240"/>
            <a:ext cx="457200" cy="45720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30184" y="4306824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823960" y="42519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offers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275320" y="475488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sales_volume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"X+ bought in past month"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coupon_text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10% with coupon"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B0B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unit_price / unit_count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Multipack pricing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data-quality problems found during profiling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into five types — every one has a documented rule in the notebook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746504"/>
            <a:ext cx="512064" cy="51206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74" y="1859158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7282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206240" y="1728216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rows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5760720" y="169164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exact copies + 4 same-ASIN rows with different price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532888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2679192"/>
            <a:ext cx="512064" cy="51206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74" y="2791846"/>
            <a:ext cx="286756" cy="2867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463040" y="266090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data types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206240" y="2660904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columns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5760720" y="262432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as "$1,614.99 ", sales as "1K+ bought…", dates as "Tomorrow, Sep 20"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465576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31520" y="3611880"/>
            <a:ext cx="512064" cy="51206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174" y="3724534"/>
            <a:ext cx="286756" cy="2867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35935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4206240" y="359359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columns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5760720" y="3557016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 (4 rows), no list price (57%), no sales badge, no rating, 99%-empty columns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48640" y="4398264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731520" y="4544568"/>
            <a:ext cx="512064" cy="512064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174" y="4657222"/>
            <a:ext cx="286756" cy="286756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463040" y="45262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/ merged values</a:t>
            </a:r>
            <a:endParaRPr lang="en-US" sz="1700" dirty="0"/>
          </a:p>
        </p:txBody>
      </p:sp>
      <p:sp>
        <p:nvSpPr>
          <p:cNvPr id="26" name="Text 20"/>
          <p:cNvSpPr txBox="1"/>
          <p:nvPr/>
        </p:nvSpPr>
        <p:spPr>
          <a:xfrm>
            <a:off x="4206240" y="45262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 cells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5760720" y="4489704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text inside delivery column; page labels scraped into sales_volume; HTML codes in titles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48640" y="5330952"/>
            <a:ext cx="11064240" cy="804672"/>
          </a:xfrm>
          <a:prstGeom prst="roundRect">
            <a:avLst>
              <a:gd name="adj" fmla="val 9091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731520" y="5477256"/>
            <a:ext cx="512064" cy="512064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174" y="5589910"/>
            <a:ext cx="286756" cy="286756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463040" y="54589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structure</a:t>
            </a:r>
            <a:endParaRPr lang="en-US" sz="1700" dirty="0"/>
          </a:p>
        </p:txBody>
      </p:sp>
      <p:sp>
        <p:nvSpPr>
          <p:cNvPr id="32" name="Text 25"/>
          <p:cNvSpPr txBox="1"/>
          <p:nvPr/>
        </p:nvSpPr>
        <p:spPr>
          <a:xfrm>
            <a:off x="4206240" y="5458968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rows</a:t>
            </a:r>
            <a:endParaRPr lang="en-US" sz="1700" dirty="0"/>
          </a:p>
        </p:txBody>
      </p:sp>
      <p:sp>
        <p:nvSpPr>
          <p:cNvPr id="33" name="Text 26"/>
          <p:cNvSpPr txBox="1"/>
          <p:nvPr/>
        </p:nvSpPr>
        <p:spPr>
          <a:xfrm>
            <a:off x="5760720" y="5422392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brand, category, condition or storage column — cases mixed with $1,600 phones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solved them — and why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are explained, not just applied; removed rows are kept in rejected_rows.csv for audit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Solution (Python)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Why this rule</a:t>
                      </a:r>
                      <a:endParaRPr lang="en-US" sz="125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listings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Same ASIN on 2 result pages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drop_duplicates(); keep first (best rank)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 counting inflates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as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"$1,614.99 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Strip $ , spaces → float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Needed for sums, bands, DAX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price (4 rows)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Unavailable offer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Exclude, log in rejected_rows.csv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value a product with no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list price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192 nulls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list_price = price, discount = 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 means "no discount", not unknown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badge text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"1K+ bought in past month"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→ 1000 (lower bound)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Turns text into a measurable demand proxy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Mis-scraped badge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"More Buying Choices"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Treat as no badge → 0 units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label, not a sales figure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Merged columns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"…Sep 24 Only 1 left in stock"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Regex split → stock_left + delivery date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fact per 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category / brand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"TracFone | Motorola Moto g…"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classifier + brand map (41)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like with like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432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with 0 reviews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star_rating = blank</a:t>
                      </a:r>
                      <a:endParaRPr lang="en-US" sz="11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NULL + is_rated flag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B0B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stars would bias averages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messy text to analysis-ready features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raw columns → 45 clean columns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value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03504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94767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product_title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219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"Samsung Galaxy S21 5G, US Version, 128GB … Unlocked (Renewed)"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2130552"/>
            <a:ext cx="365760" cy="256032"/>
          </a:xfrm>
          <a:prstGeom prst="rightArrow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1874520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1947672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= Samsung · category = Smartphone · condition = Renewed · lock = Unlocked · 5G · 128 GB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770632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437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sales_volume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1181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"2K+ bought in past month"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760720" y="3026664"/>
            <a:ext cx="365760" cy="256032"/>
          </a:xfrm>
          <a:prstGeom prst="rightArrow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770632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2843784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monthly_units_min = 2000 · sales_band = "4. 1K+" · est_monthly_revenue = price × units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66744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7398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delivery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" y="4014216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"FREE delivery Tue, Sep 24 Only 1 left in stock"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760720" y="3922776"/>
            <a:ext cx="365760" cy="256032"/>
          </a:xfrm>
          <a:prstGeom prst="rightArrow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3666744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55080" y="3739896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free_delivery = True · delivery_date = 2024-09-24 · days_to_delivery = 5 · stock_left =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562856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463600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coupon_text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4910328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"Save 5% with coupon"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60720" y="4818888"/>
            <a:ext cx="365760" cy="256032"/>
          </a:xfrm>
          <a:prstGeom prst="rightArrow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562856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55080" y="4636008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coupon_type = Percent · saving = $1.80 · net_price_after_coupon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458968"/>
            <a:ext cx="5120640" cy="749808"/>
          </a:xfrm>
          <a:prstGeom prst="roundRect">
            <a:avLst>
              <a:gd name="adj" fmla="val 9756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5532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A7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price + list price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580644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$99.00 vs $169.99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760720" y="5715000"/>
            <a:ext cx="365760" cy="256032"/>
          </a:xfrm>
          <a:prstGeom prst="rightArrow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17920" y="5458968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355080" y="5532120"/>
            <a:ext cx="5120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discount_amt = $70.99 · discount_pct = 41.8% · price_band = $50–99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Server: a validated star schema for Power BI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scripts: schema → load → validation → Power BI views → 10 business questions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108960" y="2240280"/>
            <a:ext cx="0" cy="3291840"/>
          </a:xfrm>
          <a:prstGeom prst="line">
            <a:avLst/>
          </a:prstGeom>
          <a:noFill/>
          <a:ln w="25400">
            <a:solidFill>
              <a:srgbClr val="A9C6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3886200"/>
            <a:ext cx="4023360" cy="0"/>
          </a:xfrm>
          <a:prstGeom prst="line">
            <a:avLst/>
          </a:prstGeom>
          <a:noFill/>
          <a:ln w="25400">
            <a:solidFill>
              <a:srgbClr val="A9C6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65960" y="3246120"/>
            <a:ext cx="2286000" cy="1280160"/>
          </a:xfrm>
          <a:prstGeom prst="roundRect">
            <a:avLst>
              <a:gd name="adj" fmla="val 5714"/>
            </a:avLst>
          </a:prstGeom>
          <a:solidFill>
            <a:srgbClr val="14325C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965960" y="33558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fact_listing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3685032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311 rows · 42 cols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C9D6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asin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057400" y="160020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057400" y="170992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dim_brand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203911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41 brands · tier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057400" y="516636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527608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dim_category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560527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categories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42900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65760" y="35387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dim_price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386791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bands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89120" y="3429000"/>
            <a:ext cx="1280160" cy="914400"/>
          </a:xfrm>
          <a:prstGeom prst="roundRect">
            <a:avLst>
              <a:gd name="adj" fmla="val 8000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89120" y="35387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stg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38679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251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 text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script results (03_data_validation.sql)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286000"/>
            <a:ext cx="256032" cy="25603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858000" y="2240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Staged vs loaded rows</a:t>
            </a:r>
            <a:endParaRPr lang="en-US" sz="1350" dirty="0"/>
          </a:p>
        </p:txBody>
      </p:sp>
      <p:sp>
        <p:nvSpPr>
          <p:cNvPr id="25" name="Text 22"/>
          <p:cNvSpPr txBox="1"/>
          <p:nvPr/>
        </p:nvSpPr>
        <p:spPr>
          <a:xfrm>
            <a:off x="9692640" y="2240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311 | 311</a:t>
            </a:r>
            <a:endParaRPr lang="en-US" sz="1350" dirty="0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743200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858000" y="2697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ASINs</a:t>
            </a:r>
            <a:endParaRPr lang="en-US" sz="1350" dirty="0"/>
          </a:p>
        </p:txBody>
      </p:sp>
      <p:sp>
        <p:nvSpPr>
          <p:cNvPr id="28" name="Text 24"/>
          <p:cNvSpPr txBox="1"/>
          <p:nvPr/>
        </p:nvSpPr>
        <p:spPr>
          <a:xfrm>
            <a:off x="9692640" y="2697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200400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58000" y="31546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type conversions</a:t>
            </a:r>
            <a:endParaRPr lang="en-US" sz="1350" dirty="0"/>
          </a:p>
        </p:txBody>
      </p:sp>
      <p:sp>
        <p:nvSpPr>
          <p:cNvPr id="31" name="Text 26"/>
          <p:cNvSpPr txBox="1"/>
          <p:nvPr/>
        </p:nvSpPr>
        <p:spPr>
          <a:xfrm>
            <a:off x="9692640" y="31546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3657600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858000" y="36118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price &lt; price</a:t>
            </a:r>
            <a:endParaRPr lang="en-US" sz="1350" dirty="0"/>
          </a:p>
        </p:txBody>
      </p:sp>
      <p:sp>
        <p:nvSpPr>
          <p:cNvPr id="34" name="Text 28"/>
          <p:cNvSpPr txBox="1"/>
          <p:nvPr/>
        </p:nvSpPr>
        <p:spPr>
          <a:xfrm>
            <a:off x="9692640" y="36118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114800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6858000" y="40690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outside 1–5</a:t>
            </a:r>
            <a:endParaRPr lang="en-US" sz="1350" dirty="0"/>
          </a:p>
        </p:txBody>
      </p:sp>
      <p:sp>
        <p:nvSpPr>
          <p:cNvPr id="37" name="Text 30"/>
          <p:cNvSpPr txBox="1"/>
          <p:nvPr/>
        </p:nvSpPr>
        <p:spPr>
          <a:xfrm>
            <a:off x="9692640" y="40690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572000"/>
            <a:ext cx="256032" cy="256032"/>
          </a:xfrm>
          <a:prstGeom prst="rect">
            <a:avLst/>
          </a:prstGeom>
        </p:spPr>
      </p:pic>
      <p:sp>
        <p:nvSpPr>
          <p:cNvPr id="39" name="Text 31"/>
          <p:cNvSpPr txBox="1"/>
          <p:nvPr/>
        </p:nvSpPr>
        <p:spPr>
          <a:xfrm>
            <a:off x="6858000" y="45262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Orphan foreign keys</a:t>
            </a:r>
            <a:endParaRPr lang="en-US" sz="1350" dirty="0"/>
          </a:p>
        </p:txBody>
      </p:sp>
      <p:sp>
        <p:nvSpPr>
          <p:cNvPr id="40" name="Text 32"/>
          <p:cNvSpPr txBox="1"/>
          <p:nvPr/>
        </p:nvSpPr>
        <p:spPr>
          <a:xfrm>
            <a:off x="9692640" y="45262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5029200"/>
            <a:ext cx="256032" cy="256032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6858000" y="498348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revenue control total</a:t>
            </a:r>
            <a:endParaRPr lang="en-US" sz="1350" dirty="0"/>
          </a:p>
        </p:txBody>
      </p:sp>
      <p:sp>
        <p:nvSpPr>
          <p:cNvPr id="43" name="Text 34"/>
          <p:cNvSpPr txBox="1"/>
          <p:nvPr/>
        </p:nvSpPr>
        <p:spPr>
          <a:xfrm>
            <a:off x="9692640" y="498348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$20,680,783.50</a:t>
            </a:r>
            <a:endParaRPr lang="en-US" sz="1350" dirty="0"/>
          </a:p>
        </p:txBody>
      </p:sp>
      <p:sp>
        <p:nvSpPr>
          <p:cNvPr id="44" name="Text 35"/>
          <p:cNvSpPr txBox="1"/>
          <p:nvPr/>
        </p:nvSpPr>
        <p:spPr>
          <a:xfrm>
            <a:off x="6446520" y="5440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used: TRY_CAST, CHECK &amp; FK constraints, CTEs, window functions (RANK, NTILE, running SUM), views.</a:t>
            </a:r>
            <a:endParaRPr lang="en-US" sz="1100" dirty="0"/>
          </a:p>
        </p:txBody>
      </p:sp>
      <p:sp>
        <p:nvSpPr>
          <p:cNvPr id="45" name="Text 36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— Market Overview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7863840" cy="4425696"/>
          </a:xfrm>
          <a:prstGeom prst="rect">
            <a:avLst/>
          </a:prstGeom>
          <a:ln w="9525">
            <a:solidFill>
              <a:srgbClr val="DCDC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32520" y="1252728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15544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brand, condition, price band and lock status — synced across both pages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2148840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4505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Listings, units, revenue, median price, rating, % discounted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32520" y="3044952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3252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&amp; brand bars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3467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revenue concentrates; Top-N filter on brands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732520" y="3941064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325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3922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vs Renewed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42428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of smartphone revenue split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32520" y="4837176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3252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4818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band + top products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5138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Sweet-spot bar highlighted; table of top 8 earners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image with a screenshot of your finished Power BI page before presenting.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BA3200DE-B2A5-4C65-8630-9766E8549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95" y="1280294"/>
            <a:ext cx="7903085" cy="442166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— Drivers &amp; Risk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548640" y="1234440"/>
            <a:ext cx="7863840" cy="4425696"/>
          </a:xfrm>
          <a:prstGeom prst="rect">
            <a:avLst/>
          </a:prstGeom>
          <a:ln w="9525">
            <a:solidFill>
              <a:srgbClr val="DCDCD8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732520" y="1252728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73252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9235440" y="12344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KPIs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235440" y="155448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per listing for discounted vs not, unlocked vs locked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732520" y="2148840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7325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9235440" y="213055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9235440" y="2450592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by review-count bucket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732520" y="3044952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732520" y="3044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9235440" y="30266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levers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9235440" y="3346704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coupon and Prime compared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732520" y="3941064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732520" y="3941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9235440" y="392277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units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9235440" y="424281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Log-scale scatter, bubble = reviews, colour = condition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8732520" y="4837176"/>
            <a:ext cx="365760" cy="36576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32520" y="4837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9235440" y="4818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Stock-out watch-list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235440" y="5138928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sellers with ≤10 units left, colour-coded by severity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06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this image with a screenshot of your finished Power BI page before presenting.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2ACE049E-F88B-4CE3-98F9-5C9DBB2DB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1229061"/>
            <a:ext cx="7863840" cy="444661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1 — Demand is concentrated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and a few brands capture almost all estimated revenue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480560"/>
          </a:xfrm>
          <a:prstGeom prst="roundRect">
            <a:avLst>
              <a:gd name="adj" fmla="val 1633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graphicFrame>
        <p:nvGraphicFramePr>
          <p:cNvPr id="5" name="Chart 0"/>
          <p:cNvGraphicFramePr/>
          <p:nvPr/>
        </p:nvGraphicFramePr>
        <p:xfrm>
          <a:off x="685800" y="1645920"/>
          <a:ext cx="521208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0" y="1554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554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comes from smartphones (206 of 311 listings)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0" y="2697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2697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alone — top 5 brands (all major OEMs) = 84%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400800" y="3840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840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revenue from just the top 10% of listings (32 products)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98348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4983480"/>
            <a:ext cx="3429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smartphone revenue sits in the $200–399 band (21% of listings)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2 — What is linked to higher sales volume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units sold per listing per month (association, not proven cause)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14325C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7452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952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5×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347472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3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5K+ reviews: 774 units vs 151 for &lt;100 reviews. Review count is the strongest correlate (ρ = 0.38); star rating itself barely matters (ρ = 0.05).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72200" y="1600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46520" y="1874520"/>
            <a:ext cx="548640" cy="54864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19952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+48%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9098280" y="1947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Discounts</a:t>
            </a:r>
            <a:endParaRPr lang="en-US" sz="1800" dirty="0"/>
          </a:p>
        </p:txBody>
      </p:sp>
      <p:sp>
        <p:nvSpPr>
          <p:cNvPr id="15" name="Text 11"/>
          <p:cNvSpPr txBox="1"/>
          <p:nvPr/>
        </p:nvSpPr>
        <p:spPr>
          <a:xfrm>
            <a:off x="6446520" y="2606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listings: 512 units vs 347. Median discount 15%. Coupons add little (+10%).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54864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2960" y="4160520"/>
            <a:ext cx="548640" cy="54864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28122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55448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</a:t>
            </a:r>
            <a:endParaRPr lang="en-US" sz="1800" dirty="0"/>
          </a:p>
        </p:txBody>
      </p:sp>
      <p:sp>
        <p:nvSpPr>
          <p:cNvPr id="21" name="Text 16"/>
          <p:cNvSpPr txBox="1"/>
          <p:nvPr/>
        </p:nvSpPr>
        <p:spPr>
          <a:xfrm>
            <a:off x="82296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Unlocked handsets: 460 units vs 235 for carrier-locked phones.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6172200" y="388620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4160520"/>
            <a:ext cx="548640" cy="548640"/>
          </a:xfrm>
          <a:prstGeom prst="ellipse">
            <a:avLst/>
          </a:prstGeom>
          <a:solidFill>
            <a:srgbClr val="14325C"/>
          </a:solidFill>
          <a:ln w="12700">
            <a:solidFill>
              <a:srgbClr val="14325C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7221" y="4281221"/>
            <a:ext cx="307238" cy="30723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17804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+52%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9098280" y="423367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6446520" y="4892040"/>
            <a:ext cx="4937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Renewed smartphones: 528 units vs 347 for new; 34% of listings but 43% of smartphone revenue.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61722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eligibility shows no difference (419 vs 423 units). 49 listings show ≤10 units in stock; 9 fast sellers put ≈$2.1M of monthly revenue at risk.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seller or category manager competing in the "phone" search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Action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Owner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2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Focus the range on $100–399 unlocked smartphones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63% of smartphone revenue; unlocked sells 2× locked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Assortment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Grow the renewed (refurbished) line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Sells 52% more units per listing at lower price points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Assortment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Invest in review generation for new listings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&lt;100 reviews = 151 units vs 774 for 5K+; e.g. Amazon Vine, follow-up emails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Marketing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Use visible list-price discounts rather than coupons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Discounts +48% units; coupons only +10%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Pricing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Restock the 9 high-risk fast sellers now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≈$2.1M monthly revenue on items with ≤10 units left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Operations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EB6834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4325C"/>
                          </a:solidFill>
                        </a:rPr>
                        <a:t>Track daily, not once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Schedule the Python → SQL → Power BI refresh to build a time series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52514E"/>
                          </a:solidFill>
                        </a:rPr>
                        <a:t>Analytics</a:t>
                      </a:r>
                      <a:endParaRPr lang="en-US" sz="1300" dirty="0"/>
                    </a:p>
                  </a:txBody>
                  <a:tcPr marL="109728" marR="109728" anchor="ctr">
                    <a:lnL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C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Being clear about what the data cannot tell us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snapshot of one keyword — no trend over time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 are lower bounds ("1K+" could be 1,999); revenue is an estimate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Category, brand and storage are rule-based from titles (manually reviewed)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only — no experiment to prove causation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172200" y="1600200"/>
            <a:ext cx="5440680" cy="3291840"/>
          </a:xfrm>
          <a:prstGeom prst="roundRect">
            <a:avLst>
              <a:gd name="adj" fmla="val 2222"/>
            </a:avLst>
          </a:prstGeom>
          <a:solidFill>
            <a:srgbClr val="F6F7F9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828800"/>
            <a:ext cx="548640" cy="548640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7221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8745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60604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daily snapshots and add a date dimension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keywords ("smartphone", "iphone", "cordless phone")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price elasticity once a time series exists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Power BI Service with scheduled refresh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51206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AF1FB"/>
          </a:solidFill>
          <a:ln w="9525">
            <a:solidFill>
              <a:srgbClr val="DCDCD8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32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the revenue figures:  </a:t>
            </a:r>
            <a:r>
              <a:rPr lang="en-US" sz="14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revenue = badge units (lower bound) × current price. Use it to rank and compare shares — not as accounting revenue.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11247120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9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32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8288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188720" y="18288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 first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18288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 messy rows → 311 trusted listings, 17 issues fixed with documented rules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788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0" y="27889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Smartphones 87%, Samsung 47%, $200–399 is the sweet spot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7490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37490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follows trust &amp; value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3749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count, visible discounts, unlocked and renewed phones sell more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09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B68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47091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on it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0" y="47091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Restock 9 fast sellers, build reviews, refresh the pipeline daily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852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2457</Words>
  <Application>Microsoft Office PowerPoint</Application>
  <PresentationFormat>Widescreen</PresentationFormat>
  <Paragraphs>353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Phone Market Analysis</dc:title>
  <dc:subject>PptxGenJS Presentation</dc:subject>
  <dc:creator>PptxGenJS</dc:creator>
  <cp:lastModifiedBy>Mahmoud Hassan Khalil ElTobgy</cp:lastModifiedBy>
  <cp:revision>2</cp:revision>
  <dcterms:created xsi:type="dcterms:W3CDTF">2026-10-01T18:40:28Z</dcterms:created>
  <dcterms:modified xsi:type="dcterms:W3CDTF">2026-10-01T23:59:48Z</dcterms:modified>
</cp:coreProperties>
</file>